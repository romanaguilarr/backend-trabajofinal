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uce" charset="1" panose="00000500000000000000"/>
      <p:regular r:id="rId24"/>
    </p:embeddedFont>
    <p:embeddedFont>
      <p:font typeface="DM Serif Display" charset="1" panose="00000000000000000000"/>
      <p:regular r:id="rId25"/>
    </p:embeddedFont>
    <p:embeddedFont>
      <p:font typeface="Nunito Sans" charset="1" panose="00000000000000000000"/>
      <p:regular r:id="rId26"/>
    </p:embeddedFont>
    <p:embeddedFont>
      <p:font typeface="Nunito Sans Bold" charset="1" panose="00000000000000000000"/>
      <p:regular r:id="rId30"/>
    </p:embeddedFont>
    <p:embeddedFont>
      <p:font typeface="Rubik Bold" charset="1" panose="00000800000000000000"/>
      <p:regular r:id="rId31"/>
    </p:embeddedFont>
    <p:embeddedFont>
      <p:font typeface="Montserrat Bold" charset="1" panose="00000800000000000000"/>
      <p:regular r:id="rId34"/>
    </p:embeddedFont>
    <p:embeddedFont>
      <p:font typeface="Open Sauce Bold" charset="1" panose="00000800000000000000"/>
      <p:regular r:id="rId35"/>
    </p:embeddedFont>
    <p:embeddedFont>
      <p:font typeface="Caladea Bold" charset="1" panose="02040803050406030204"/>
      <p:regular r:id="rId39"/>
    </p:embeddedFont>
    <p:embeddedFont>
      <p:font typeface="Inter" charset="1" panose="020005030000000200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a quién sirve el sistema: la municipalidad, los vecinos y las cuadrillas de limpieza.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Cada problema de la izquierda tiene una función concreta del sistema a la derecha.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objetivos vienen después del problema y son medibles: 9 requerimientos, 3 módulos, 4 flujos probados y 3 servicios en la nube. Cada conclusión responde a uno de ellos.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requerimientos están ordenados por prioridad. Los de prioridad alta forman el flujo principal: registrarse, reportar, asignar y resolver.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requerimientos están ordenados por prioridad. Los de prioridad alta forman el flujo principal: registrarse, reportar, asignar y resolver.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requerimientos están ordenados por prioridad. Los de prioridad alta forman el flujo principal: registrarse, reportar, asignar y resolver.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El frontend en Vercel llama a la API por HTTPS con un token JWT. La API en Render valida el token, pasa por controladores, servicios y repositorios, y guarda en PostgreSQL de Supabase. Para fotos, IA y validación de DNI usa servicios externos.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requerimientos están ordenados por prioridad. Los de prioridad alta forman el flujo principal: registrarse, reportar, asignar y resolver.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requerimientos están ordenados por prioridad. Los de prioridad alta forman el flujo principal: registrarse, reportar, asignar y resolver.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requerimientos están ordenados por prioridad. Los de prioridad alta forman el flujo principal: registrarse, reportar, asignar y resolver.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requerimientos están ordenados por prioridad. Los de prioridad alta forman el flujo principal: registrarse, reportar, asignar y resolver.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Los requerimientos están ordenados por prioridad. Los de prioridad alta forman el flujo principal: registrarse, reportar, asignar y resolver.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Cada conclusión responde directamente a un objetivo específico de la diapositiva 5.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74764" y="-207071"/>
            <a:ext cx="3086100" cy="11299900"/>
            <a:chOff x="0" y="0"/>
            <a:chExt cx="812800" cy="29761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43050" y="-558218"/>
            <a:ext cx="3086100" cy="11299900"/>
            <a:chOff x="0" y="0"/>
            <a:chExt cx="812800" cy="29761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976105"/>
            </a:xfrm>
            <a:custGeom>
              <a:avLst/>
              <a:gdLst/>
              <a:ahLst/>
              <a:cxnLst/>
              <a:rect r="r" b="b" t="t" l="l"/>
              <a:pathLst>
                <a:path h="297610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12800" cy="299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7773" y="4163622"/>
            <a:ext cx="110236" cy="2818996"/>
            <a:chOff x="0" y="0"/>
            <a:chExt cx="26312" cy="6728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312" cy="672855"/>
            </a:xfrm>
            <a:custGeom>
              <a:avLst/>
              <a:gdLst/>
              <a:ahLst/>
              <a:cxnLst/>
              <a:rect r="r" b="b" t="t" l="l"/>
              <a:pathLst>
                <a:path h="672855" w="26312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6312" cy="6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2928" y="2928270"/>
            <a:ext cx="7391072" cy="569486"/>
            <a:chOff x="0" y="0"/>
            <a:chExt cx="9854763" cy="759314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854763" cy="759314"/>
              <a:chOff x="0" y="0"/>
              <a:chExt cx="1764145" cy="13592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764145" cy="135928"/>
              </a:xfrm>
              <a:custGeom>
                <a:avLst/>
                <a:gdLst/>
                <a:ahLst/>
                <a:cxnLst/>
                <a:rect r="r" b="b" t="t" l="l"/>
                <a:pathLst>
                  <a:path h="135928" w="1764145">
                    <a:moveTo>
                      <a:pt x="20805" y="0"/>
                    </a:moveTo>
                    <a:lnTo>
                      <a:pt x="1743340" y="0"/>
                    </a:lnTo>
                    <a:cubicBezTo>
                      <a:pt x="1748858" y="0"/>
                      <a:pt x="1754150" y="2192"/>
                      <a:pt x="1758052" y="6094"/>
                    </a:cubicBezTo>
                    <a:cubicBezTo>
                      <a:pt x="1761953" y="9995"/>
                      <a:pt x="1764145" y="15287"/>
                      <a:pt x="1764145" y="20805"/>
                    </a:cubicBezTo>
                    <a:lnTo>
                      <a:pt x="1764145" y="115124"/>
                    </a:lnTo>
                    <a:cubicBezTo>
                      <a:pt x="1764145" y="126614"/>
                      <a:pt x="1754831" y="135928"/>
                      <a:pt x="1743340" y="135928"/>
                    </a:cubicBezTo>
                    <a:lnTo>
                      <a:pt x="20805" y="135928"/>
                    </a:lnTo>
                    <a:cubicBezTo>
                      <a:pt x="9315" y="135928"/>
                      <a:pt x="0" y="126614"/>
                      <a:pt x="0" y="115124"/>
                    </a:cubicBezTo>
                    <a:lnTo>
                      <a:pt x="0" y="20805"/>
                    </a:lnTo>
                    <a:cubicBezTo>
                      <a:pt x="0" y="9315"/>
                      <a:pt x="9315" y="0"/>
                      <a:pt x="20805" y="0"/>
                    </a:cubicBezTo>
                    <a:close/>
                  </a:path>
                </a:pathLst>
              </a:custGeom>
              <a:solidFill>
                <a:srgbClr val="1C5739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764145" cy="1645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3120"/>
                  </a:lnSpc>
                </a:pPr>
                <a:r>
                  <a:rPr lang="en-US" sz="2400">
                    <a:solidFill>
                      <a:srgbClr val="FFFFFF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      Herramientas de Desarrollo Web</a:t>
                </a: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46541" y="130930"/>
              <a:ext cx="497454" cy="497454"/>
            </a:xfrm>
            <a:custGeom>
              <a:avLst/>
              <a:gdLst/>
              <a:ahLst/>
              <a:cxnLst/>
              <a:rect r="r" b="b" t="t" l="l"/>
              <a:pathLst>
                <a:path h="497454" w="497454">
                  <a:moveTo>
                    <a:pt x="0" y="0"/>
                  </a:moveTo>
                  <a:lnTo>
                    <a:pt x="497453" y="0"/>
                  </a:lnTo>
                  <a:lnTo>
                    <a:pt x="497453" y="497454"/>
                  </a:lnTo>
                  <a:lnTo>
                    <a:pt x="0" y="497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833988" y="-215571"/>
            <a:ext cx="1558429" cy="4114800"/>
          </a:xfrm>
          <a:custGeom>
            <a:avLst/>
            <a:gdLst/>
            <a:ahLst/>
            <a:cxnLst/>
            <a:rect r="r" b="b" t="t" l="l"/>
            <a:pathLst>
              <a:path h="4114800" w="1558429">
                <a:moveTo>
                  <a:pt x="0" y="0"/>
                </a:moveTo>
                <a:lnTo>
                  <a:pt x="1558429" y="0"/>
                </a:lnTo>
                <a:lnTo>
                  <a:pt x="1558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0866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2857101" y="-2238638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476656" y="8684282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0" y="0"/>
                </a:moveTo>
                <a:lnTo>
                  <a:pt x="4084875" y="0"/>
                </a:lnTo>
                <a:lnTo>
                  <a:pt x="408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90496" y="6944518"/>
            <a:ext cx="8215612" cy="3031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167" spc="108">
                <a:solidFill>
                  <a:srgbClr val="1C5739"/>
                </a:solidFill>
                <a:latin typeface="Open Sauce"/>
                <a:ea typeface="Open Sauce"/>
                <a:cs typeface="Open Sauce"/>
                <a:sym typeface="Open Sauce"/>
              </a:rPr>
              <a:t>INTEGRANTES:</a:t>
            </a:r>
          </a:p>
          <a:p>
            <a:pPr algn="l">
              <a:lnSpc>
                <a:spcPts val="3034"/>
              </a:lnSpc>
            </a:pPr>
          </a:p>
          <a:p>
            <a:pPr algn="l" marL="467955" indent="-233978" lvl="1">
              <a:lnSpc>
                <a:spcPts val="3034"/>
              </a:lnSpc>
              <a:buFont typeface="Arial"/>
              <a:buChar char="•"/>
            </a:pPr>
            <a:r>
              <a:rPr lang="en-US" sz="2167" spc="108">
                <a:solidFill>
                  <a:srgbClr val="1C5739"/>
                </a:solidFill>
                <a:latin typeface="Open Sauce"/>
                <a:ea typeface="Open Sauce"/>
                <a:cs typeface="Open Sauce"/>
                <a:sym typeface="Open Sauce"/>
              </a:rPr>
              <a:t>PEREZ CAJAHUARINGA, EDUARD CAMILO (40%)</a:t>
            </a:r>
          </a:p>
          <a:p>
            <a:pPr algn="l" marL="467955" indent="-233978" lvl="1">
              <a:lnSpc>
                <a:spcPts val="3034"/>
              </a:lnSpc>
              <a:buFont typeface="Arial"/>
              <a:buChar char="•"/>
            </a:pPr>
            <a:r>
              <a:rPr lang="en-US" sz="2167" spc="108">
                <a:solidFill>
                  <a:srgbClr val="1C5739"/>
                </a:solidFill>
                <a:latin typeface="Open Sauce"/>
                <a:ea typeface="Open Sauce"/>
                <a:cs typeface="Open Sauce"/>
                <a:sym typeface="Open Sauce"/>
              </a:rPr>
              <a:t>ROMAN AGUILAR, ITZAIR NADIR (100%)</a:t>
            </a:r>
          </a:p>
          <a:p>
            <a:pPr algn="l" marL="467955" indent="-233978" lvl="1">
              <a:lnSpc>
                <a:spcPts val="3034"/>
              </a:lnSpc>
              <a:buFont typeface="Arial"/>
              <a:buChar char="•"/>
            </a:pPr>
            <a:r>
              <a:rPr lang="en-US" sz="2167" spc="108">
                <a:solidFill>
                  <a:srgbClr val="1C5739"/>
                </a:solidFill>
                <a:latin typeface="Open Sauce"/>
                <a:ea typeface="Open Sauce"/>
                <a:cs typeface="Open Sauce"/>
                <a:sym typeface="Open Sauce"/>
              </a:rPr>
              <a:t>GONZALO LEON, PAOLO ALESSANDRO (40%)</a:t>
            </a:r>
          </a:p>
          <a:p>
            <a:pPr algn="l" marL="467955" indent="-233978" lvl="1">
              <a:lnSpc>
                <a:spcPts val="3034"/>
              </a:lnSpc>
              <a:buFont typeface="Arial"/>
              <a:buChar char="•"/>
            </a:pPr>
            <a:r>
              <a:rPr lang="en-US" sz="2167" spc="108">
                <a:solidFill>
                  <a:srgbClr val="1C5739"/>
                </a:solidFill>
                <a:latin typeface="Open Sauce"/>
                <a:ea typeface="Open Sauce"/>
                <a:cs typeface="Open Sauce"/>
                <a:sym typeface="Open Sauce"/>
              </a:rPr>
              <a:t>QUISPE DE LA CRUZ, DANIEL OMAR (40%)</a:t>
            </a:r>
          </a:p>
          <a:p>
            <a:pPr algn="l">
              <a:lnSpc>
                <a:spcPts val="3034"/>
              </a:lnSpc>
            </a:pPr>
          </a:p>
          <a:p>
            <a:pPr algn="l">
              <a:lnSpc>
                <a:spcPts val="3034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909546" y="4474024"/>
            <a:ext cx="9065824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14"/>
              </a:lnSpc>
            </a:pPr>
            <a:r>
              <a:rPr lang="en-US" sz="11178">
                <a:solidFill>
                  <a:srgbClr val="1C5739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ECOSÓLIDO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90496" y="3488231"/>
            <a:ext cx="9291854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9"/>
              </a:lnSpc>
            </a:pPr>
            <a:r>
              <a:rPr lang="en-US" sz="7616">
                <a:solidFill>
                  <a:srgbClr val="1C5739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APLICACIÓN WEB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909546" y="1375671"/>
            <a:ext cx="3479070" cy="1066824"/>
          </a:xfrm>
          <a:custGeom>
            <a:avLst/>
            <a:gdLst/>
            <a:ahLst/>
            <a:cxnLst/>
            <a:rect r="r" b="b" t="t" l="l"/>
            <a:pathLst>
              <a:path h="1066824" w="3479070">
                <a:moveTo>
                  <a:pt x="0" y="0"/>
                </a:moveTo>
                <a:lnTo>
                  <a:pt x="3479070" y="0"/>
                </a:lnTo>
                <a:lnTo>
                  <a:pt x="3479070" y="1066824"/>
                </a:lnTo>
                <a:lnTo>
                  <a:pt x="0" y="1066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809415" y="739805"/>
            <a:ext cx="5416798" cy="8927676"/>
          </a:xfrm>
          <a:custGeom>
            <a:avLst/>
            <a:gdLst/>
            <a:ahLst/>
            <a:cxnLst/>
            <a:rect r="r" b="b" t="t" l="l"/>
            <a:pathLst>
              <a:path h="8927676" w="5416798">
                <a:moveTo>
                  <a:pt x="0" y="0"/>
                </a:moveTo>
                <a:lnTo>
                  <a:pt x="5416799" y="0"/>
                </a:lnTo>
                <a:lnTo>
                  <a:pt x="5416799" y="8927676"/>
                </a:lnTo>
                <a:lnTo>
                  <a:pt x="0" y="89276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6490" t="0" r="-127446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736309" y="6214378"/>
            <a:ext cx="747370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C5739"/>
                </a:solidFill>
                <a:latin typeface="Nunito Sans"/>
                <a:ea typeface="Nunito Sans"/>
                <a:cs typeface="Nunito Sans"/>
                <a:sym typeface="Nunito Sans"/>
              </a:rPr>
              <a:t>DOCENTE: MAGISTER MIGUEL JAEGER RODRIGUEZ LAZO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90625"/>
            <a:ext cx="1632508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2E7D3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1.- </a:t>
            </a:r>
            <a:r>
              <a:rPr lang="en-US" b="true" sz="1800" spc="225">
                <a:solidFill>
                  <a:srgbClr val="2E7D3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CONTEXTO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672533"/>
            <a:ext cx="4028331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Contexto institucional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2242" y="3788361"/>
            <a:ext cx="8241030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2A3A31"/>
                </a:solidFill>
                <a:latin typeface="Nunito Sans"/>
                <a:ea typeface="Nunito Sans"/>
                <a:cs typeface="Nunito Sans"/>
                <a:sym typeface="Nunito Sans"/>
              </a:rPr>
              <a:t>EcoSolido está pensado para todas las municipalidades del Perú, que son las encargadas de atender los puntos de acumulación de residuos en la vía pública.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829800" y="2781148"/>
            <a:ext cx="7239000" cy="1763763"/>
            <a:chOff x="0" y="0"/>
            <a:chExt cx="9652000" cy="23516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52000" cy="2351659"/>
            </a:xfrm>
            <a:custGeom>
              <a:avLst/>
              <a:gdLst/>
              <a:ahLst/>
              <a:cxnLst/>
              <a:rect r="r" b="b" t="t" l="l"/>
              <a:pathLst>
                <a:path h="2351659" w="96520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9505188" y="0"/>
                  </a:lnTo>
                  <a:cubicBezTo>
                    <a:pt x="9586214" y="0"/>
                    <a:pt x="9652000" y="65786"/>
                    <a:pt x="9652000" y="146812"/>
                  </a:cubicBezTo>
                  <a:lnTo>
                    <a:pt x="9652000" y="2204847"/>
                  </a:lnTo>
                  <a:cubicBezTo>
                    <a:pt x="9652000" y="2286000"/>
                    <a:pt x="9586214" y="2351659"/>
                    <a:pt x="9505188" y="2351659"/>
                  </a:cubicBezTo>
                  <a:lnTo>
                    <a:pt x="146812" y="2351659"/>
                  </a:lnTo>
                  <a:cubicBezTo>
                    <a:pt x="65786" y="2351659"/>
                    <a:pt x="0" y="2286000"/>
                    <a:pt x="0" y="2204847"/>
                  </a:cubicBezTo>
                  <a:close/>
                </a:path>
              </a:pathLst>
            </a:custGeom>
            <a:solidFill>
              <a:srgbClr val="FCFDFA"/>
            </a:solidFill>
            <a:ln w="9525" cap="sq">
              <a:solidFill>
                <a:srgbClr val="DCE5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144125" y="3085948"/>
            <a:ext cx="6808660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D. Leg. 1278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44125" y="3489722"/>
            <a:ext cx="6808660" cy="77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42514A"/>
                </a:solidFill>
                <a:latin typeface="Nunito Sans"/>
                <a:ea typeface="Nunito Sans"/>
                <a:cs typeface="Nunito Sans"/>
                <a:sym typeface="Nunito Sans"/>
              </a:rPr>
              <a:t>Ley de Gestión Integral de Residuos Sólidos: las municipalidades gestionan los residuos de su distrito.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29800" y="4735411"/>
            <a:ext cx="7239000" cy="1763763"/>
            <a:chOff x="0" y="0"/>
            <a:chExt cx="9652000" cy="23516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52000" cy="2351659"/>
            </a:xfrm>
            <a:custGeom>
              <a:avLst/>
              <a:gdLst/>
              <a:ahLst/>
              <a:cxnLst/>
              <a:rect r="r" b="b" t="t" l="l"/>
              <a:pathLst>
                <a:path h="2351659" w="96520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9505188" y="0"/>
                  </a:lnTo>
                  <a:cubicBezTo>
                    <a:pt x="9586214" y="0"/>
                    <a:pt x="9652000" y="65786"/>
                    <a:pt x="9652000" y="146812"/>
                  </a:cubicBezTo>
                  <a:lnTo>
                    <a:pt x="9652000" y="2204847"/>
                  </a:lnTo>
                  <a:cubicBezTo>
                    <a:pt x="9652000" y="2286000"/>
                    <a:pt x="9586214" y="2351659"/>
                    <a:pt x="9505188" y="2351659"/>
                  </a:cubicBezTo>
                  <a:lnTo>
                    <a:pt x="146812" y="2351659"/>
                  </a:lnTo>
                  <a:cubicBezTo>
                    <a:pt x="65786" y="2351659"/>
                    <a:pt x="0" y="2286000"/>
                    <a:pt x="0" y="2204847"/>
                  </a:cubicBezTo>
                  <a:close/>
                </a:path>
              </a:pathLst>
            </a:custGeom>
            <a:solidFill>
              <a:srgbClr val="FCFDFA"/>
            </a:solidFill>
            <a:ln w="9525" cap="sq">
              <a:solidFill>
                <a:srgbClr val="DCE5D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144125" y="5040211"/>
            <a:ext cx="6808660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NTP 900.058:2019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44125" y="5443985"/>
            <a:ext cx="6808660" cy="77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42514A"/>
                </a:solidFill>
                <a:latin typeface="Nunito Sans"/>
                <a:ea typeface="Nunito Sans"/>
                <a:cs typeface="Nunito Sans"/>
                <a:sym typeface="Nunito Sans"/>
              </a:rPr>
              <a:t>Código de colores para separar residuos, usado en la educación ambiental de la plataforma.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29800" y="6689674"/>
            <a:ext cx="7239000" cy="1763763"/>
            <a:chOff x="0" y="0"/>
            <a:chExt cx="9652000" cy="23516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52000" cy="2351659"/>
            </a:xfrm>
            <a:custGeom>
              <a:avLst/>
              <a:gdLst/>
              <a:ahLst/>
              <a:cxnLst/>
              <a:rect r="r" b="b" t="t" l="l"/>
              <a:pathLst>
                <a:path h="2351659" w="96520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9505188" y="0"/>
                  </a:lnTo>
                  <a:cubicBezTo>
                    <a:pt x="9586214" y="0"/>
                    <a:pt x="9652000" y="65786"/>
                    <a:pt x="9652000" y="146812"/>
                  </a:cubicBezTo>
                  <a:lnTo>
                    <a:pt x="9652000" y="2204847"/>
                  </a:lnTo>
                  <a:cubicBezTo>
                    <a:pt x="9652000" y="2286000"/>
                    <a:pt x="9586214" y="2351659"/>
                    <a:pt x="9505188" y="2351659"/>
                  </a:cubicBezTo>
                  <a:lnTo>
                    <a:pt x="146812" y="2351659"/>
                  </a:lnTo>
                  <a:cubicBezTo>
                    <a:pt x="65786" y="2351659"/>
                    <a:pt x="0" y="2286000"/>
                    <a:pt x="0" y="2204847"/>
                  </a:cubicBezTo>
                  <a:close/>
                </a:path>
              </a:pathLst>
            </a:custGeom>
            <a:solidFill>
              <a:srgbClr val="FCFDFA"/>
            </a:solidFill>
            <a:ln w="9525" cap="sq">
              <a:solidFill>
                <a:srgbClr val="DCE5D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144125" y="6994474"/>
            <a:ext cx="6808660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Actores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44125" y="7398248"/>
            <a:ext cx="6808660" cy="77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42514A"/>
                </a:solidFill>
                <a:latin typeface="Nunito Sans"/>
                <a:ea typeface="Nunito Sans"/>
                <a:cs typeface="Nunito Sans"/>
                <a:sym typeface="Nunito Sans"/>
              </a:rPr>
              <a:t>Ciudadano que reporta, administrador municipal que gestiona y cuadrillas que atienden en campo.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2242" y="5824630"/>
            <a:ext cx="824103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2A3A31"/>
                </a:solidFill>
                <a:latin typeface="Nunito Sans"/>
                <a:ea typeface="Nunito Sans"/>
                <a:cs typeface="Nunito Sans"/>
                <a:sym typeface="Nunito Sans"/>
              </a:rPr>
              <a:t>Los vecinos detectan el problema primero, pero no tienen un canal formal para reportarlo ni saber si alguien lo atendió.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90625"/>
            <a:ext cx="1632508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2E7D3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2.- </a:t>
            </a:r>
            <a:r>
              <a:rPr lang="en-US" b="true" sz="1800" spc="225">
                <a:solidFill>
                  <a:srgbClr val="2E7D3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PROBLEMÁTICA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672533"/>
            <a:ext cx="6814840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De reportes sueltos a un ciclo trazable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2657323"/>
            <a:ext cx="7573899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C2410C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PROBLEMÁTICA ACTUAL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15500" y="2657323"/>
            <a:ext cx="7573899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2E7D3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SOLUCIÓN PROPUESTA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9200" y="3203972"/>
            <a:ext cx="7353300" cy="741016"/>
            <a:chOff x="0" y="0"/>
            <a:chExt cx="9804400" cy="9880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04400" cy="988060"/>
            </a:xfrm>
            <a:custGeom>
              <a:avLst/>
              <a:gdLst/>
              <a:ahLst/>
              <a:cxnLst/>
              <a:rect r="r" b="b" t="t" l="l"/>
              <a:pathLst>
                <a:path h="988060" w="980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652000" y="0"/>
                  </a:lnTo>
                  <a:cubicBezTo>
                    <a:pt x="9736201" y="0"/>
                    <a:pt x="9804400" y="68199"/>
                    <a:pt x="9804400" y="152400"/>
                  </a:cubicBezTo>
                  <a:lnTo>
                    <a:pt x="9804400" y="835660"/>
                  </a:lnTo>
                  <a:cubicBezTo>
                    <a:pt x="9804400" y="919861"/>
                    <a:pt x="9736201" y="988060"/>
                    <a:pt x="9652000" y="988060"/>
                  </a:cubicBezTo>
                  <a:lnTo>
                    <a:pt x="152400" y="988060"/>
                  </a:lnTo>
                  <a:cubicBezTo>
                    <a:pt x="68199" y="988060"/>
                    <a:pt x="0" y="919861"/>
                    <a:pt x="0" y="835660"/>
                  </a:cubicBezTo>
                  <a:close/>
                </a:path>
              </a:pathLst>
            </a:custGeom>
            <a:solidFill>
              <a:srgbClr val="FBEF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804400" cy="10165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A3A3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Reportes por llamada o WhatsApp, sin registro formal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01100" y="3402959"/>
            <a:ext cx="685800" cy="342900"/>
            <a:chOff x="0" y="0"/>
            <a:chExt cx="914400" cy="457200"/>
          </a:xfrm>
        </p:grpSpPr>
        <p:sp>
          <p:nvSpPr>
            <p:cNvPr name="Freeform 10" id="10" descr="arrow-right"/>
            <p:cNvSpPr/>
            <p:nvPr/>
          </p:nvSpPr>
          <p:spPr>
            <a:xfrm flipH="false" flipV="false" rot="0">
              <a:off x="0" y="0"/>
              <a:ext cx="914400" cy="457200"/>
            </a:xfrm>
            <a:custGeom>
              <a:avLst/>
              <a:gdLst/>
              <a:ahLst/>
              <a:cxnLst/>
              <a:rect r="r" b="b" t="t" l="l"/>
              <a:pathLst>
                <a:path h="457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715500" y="3203972"/>
            <a:ext cx="7353300" cy="741016"/>
            <a:chOff x="0" y="0"/>
            <a:chExt cx="9804400" cy="9880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04400" cy="988060"/>
            </a:xfrm>
            <a:custGeom>
              <a:avLst/>
              <a:gdLst/>
              <a:ahLst/>
              <a:cxnLst/>
              <a:rect r="r" b="b" t="t" l="l"/>
              <a:pathLst>
                <a:path h="988060" w="980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652000" y="0"/>
                  </a:lnTo>
                  <a:cubicBezTo>
                    <a:pt x="9736201" y="0"/>
                    <a:pt x="9804400" y="68199"/>
                    <a:pt x="9804400" y="152400"/>
                  </a:cubicBezTo>
                  <a:lnTo>
                    <a:pt x="9804400" y="835660"/>
                  </a:lnTo>
                  <a:cubicBezTo>
                    <a:pt x="9804400" y="919861"/>
                    <a:pt x="9736201" y="988060"/>
                    <a:pt x="9652000" y="988060"/>
                  </a:cubicBezTo>
                  <a:lnTo>
                    <a:pt x="152400" y="988060"/>
                  </a:lnTo>
                  <a:cubicBezTo>
                    <a:pt x="68199" y="988060"/>
                    <a:pt x="0" y="919861"/>
                    <a:pt x="0" y="835660"/>
                  </a:cubicBezTo>
                  <a:close/>
                </a:path>
              </a:pathLst>
            </a:custGeom>
            <a:solidFill>
              <a:srgbClr val="E3F0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804400" cy="10165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A3A3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Reporte web con foto, mapa y descripción por IA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9200" y="4097388"/>
            <a:ext cx="7353300" cy="741016"/>
            <a:chOff x="0" y="0"/>
            <a:chExt cx="9804400" cy="9880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04400" cy="988060"/>
            </a:xfrm>
            <a:custGeom>
              <a:avLst/>
              <a:gdLst/>
              <a:ahLst/>
              <a:cxnLst/>
              <a:rect r="r" b="b" t="t" l="l"/>
              <a:pathLst>
                <a:path h="988060" w="980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652000" y="0"/>
                  </a:lnTo>
                  <a:cubicBezTo>
                    <a:pt x="9736201" y="0"/>
                    <a:pt x="9804400" y="68199"/>
                    <a:pt x="9804400" y="152400"/>
                  </a:cubicBezTo>
                  <a:lnTo>
                    <a:pt x="9804400" y="835660"/>
                  </a:lnTo>
                  <a:cubicBezTo>
                    <a:pt x="9804400" y="919861"/>
                    <a:pt x="9736201" y="988060"/>
                    <a:pt x="9652000" y="988060"/>
                  </a:cubicBezTo>
                  <a:lnTo>
                    <a:pt x="152400" y="988060"/>
                  </a:lnTo>
                  <a:cubicBezTo>
                    <a:pt x="68199" y="988060"/>
                    <a:pt x="0" y="919861"/>
                    <a:pt x="0" y="835660"/>
                  </a:cubicBezTo>
                  <a:close/>
                </a:path>
              </a:pathLst>
            </a:custGeom>
            <a:solidFill>
              <a:srgbClr val="FBEFE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804400" cy="10165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A3A3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El vecino no sabe si su reporte fue atendido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01100" y="4296375"/>
            <a:ext cx="685800" cy="342900"/>
            <a:chOff x="0" y="0"/>
            <a:chExt cx="914400" cy="457200"/>
          </a:xfrm>
        </p:grpSpPr>
        <p:sp>
          <p:nvSpPr>
            <p:cNvPr name="Freeform 18" id="18" descr="arrow-right"/>
            <p:cNvSpPr/>
            <p:nvPr/>
          </p:nvSpPr>
          <p:spPr>
            <a:xfrm flipH="false" flipV="false" rot="0">
              <a:off x="0" y="0"/>
              <a:ext cx="914400" cy="457200"/>
            </a:xfrm>
            <a:custGeom>
              <a:avLst/>
              <a:gdLst/>
              <a:ahLst/>
              <a:cxnLst/>
              <a:rect r="r" b="b" t="t" l="l"/>
              <a:pathLst>
                <a:path h="457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15500" y="4097388"/>
            <a:ext cx="7353300" cy="741016"/>
            <a:chOff x="0" y="0"/>
            <a:chExt cx="9804400" cy="9880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04400" cy="988060"/>
            </a:xfrm>
            <a:custGeom>
              <a:avLst/>
              <a:gdLst/>
              <a:ahLst/>
              <a:cxnLst/>
              <a:rect r="r" b="b" t="t" l="l"/>
              <a:pathLst>
                <a:path h="988060" w="980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652000" y="0"/>
                  </a:lnTo>
                  <a:cubicBezTo>
                    <a:pt x="9736201" y="0"/>
                    <a:pt x="9804400" y="68199"/>
                    <a:pt x="9804400" y="152400"/>
                  </a:cubicBezTo>
                  <a:lnTo>
                    <a:pt x="9804400" y="835660"/>
                  </a:lnTo>
                  <a:cubicBezTo>
                    <a:pt x="9804400" y="919861"/>
                    <a:pt x="9736201" y="988060"/>
                    <a:pt x="9652000" y="988060"/>
                  </a:cubicBezTo>
                  <a:lnTo>
                    <a:pt x="152400" y="988060"/>
                  </a:lnTo>
                  <a:cubicBezTo>
                    <a:pt x="68199" y="988060"/>
                    <a:pt x="0" y="919861"/>
                    <a:pt x="0" y="835660"/>
                  </a:cubicBezTo>
                  <a:close/>
                </a:path>
              </a:pathLst>
            </a:custGeom>
            <a:solidFill>
              <a:srgbClr val="E3F0E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804400" cy="10165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A3A3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Seguimiento en línea: Pendiente, En proceso, Resuelto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9200" y="4990805"/>
            <a:ext cx="7353300" cy="741016"/>
            <a:chOff x="0" y="0"/>
            <a:chExt cx="9804400" cy="9880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04400" cy="988060"/>
            </a:xfrm>
            <a:custGeom>
              <a:avLst/>
              <a:gdLst/>
              <a:ahLst/>
              <a:cxnLst/>
              <a:rect r="r" b="b" t="t" l="l"/>
              <a:pathLst>
                <a:path h="988060" w="980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652000" y="0"/>
                  </a:lnTo>
                  <a:cubicBezTo>
                    <a:pt x="9736201" y="0"/>
                    <a:pt x="9804400" y="68199"/>
                    <a:pt x="9804400" y="152400"/>
                  </a:cubicBezTo>
                  <a:lnTo>
                    <a:pt x="9804400" y="835660"/>
                  </a:lnTo>
                  <a:cubicBezTo>
                    <a:pt x="9804400" y="919861"/>
                    <a:pt x="9736201" y="988060"/>
                    <a:pt x="9652000" y="988060"/>
                  </a:cubicBezTo>
                  <a:lnTo>
                    <a:pt x="152400" y="988060"/>
                  </a:lnTo>
                  <a:cubicBezTo>
                    <a:pt x="68199" y="988060"/>
                    <a:pt x="0" y="919861"/>
                    <a:pt x="0" y="835660"/>
                  </a:cubicBezTo>
                  <a:close/>
                </a:path>
              </a:pathLst>
            </a:custGeom>
            <a:solidFill>
              <a:srgbClr val="FBEFE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804400" cy="10165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A3A3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Sin control de qué cuadrilla atiende ni de su carga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801100" y="5189782"/>
            <a:ext cx="685800" cy="342900"/>
            <a:chOff x="0" y="0"/>
            <a:chExt cx="914400" cy="457200"/>
          </a:xfrm>
        </p:grpSpPr>
        <p:sp>
          <p:nvSpPr>
            <p:cNvPr name="Freeform 26" id="26" descr="arrow-right"/>
            <p:cNvSpPr/>
            <p:nvPr/>
          </p:nvSpPr>
          <p:spPr>
            <a:xfrm flipH="false" flipV="false" rot="0">
              <a:off x="0" y="0"/>
              <a:ext cx="914400" cy="457200"/>
            </a:xfrm>
            <a:custGeom>
              <a:avLst/>
              <a:gdLst/>
              <a:ahLst/>
              <a:cxnLst/>
              <a:rect r="r" b="b" t="t" l="l"/>
              <a:pathLst>
                <a:path h="457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15500" y="4990805"/>
            <a:ext cx="7353300" cy="741016"/>
            <a:chOff x="0" y="0"/>
            <a:chExt cx="9804400" cy="98802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04400" cy="988060"/>
            </a:xfrm>
            <a:custGeom>
              <a:avLst/>
              <a:gdLst/>
              <a:ahLst/>
              <a:cxnLst/>
              <a:rect r="r" b="b" t="t" l="l"/>
              <a:pathLst>
                <a:path h="988060" w="980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652000" y="0"/>
                  </a:lnTo>
                  <a:cubicBezTo>
                    <a:pt x="9736201" y="0"/>
                    <a:pt x="9804400" y="68199"/>
                    <a:pt x="9804400" y="152400"/>
                  </a:cubicBezTo>
                  <a:lnTo>
                    <a:pt x="9804400" y="835660"/>
                  </a:lnTo>
                  <a:cubicBezTo>
                    <a:pt x="9804400" y="919861"/>
                    <a:pt x="9736201" y="988060"/>
                    <a:pt x="9652000" y="988060"/>
                  </a:cubicBezTo>
                  <a:lnTo>
                    <a:pt x="152400" y="988060"/>
                  </a:lnTo>
                  <a:cubicBezTo>
                    <a:pt x="68199" y="988060"/>
                    <a:pt x="0" y="919861"/>
                    <a:pt x="0" y="835660"/>
                  </a:cubicBezTo>
                  <a:close/>
                </a:path>
              </a:pathLst>
            </a:custGeom>
            <a:solidFill>
              <a:srgbClr val="E3F0E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9804400" cy="10165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A3A3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Asignación por zona, con máximo 3 incidencias en curso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19200" y="5884221"/>
            <a:ext cx="7353300" cy="741016"/>
            <a:chOff x="0" y="0"/>
            <a:chExt cx="9804400" cy="9880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04400" cy="988060"/>
            </a:xfrm>
            <a:custGeom>
              <a:avLst/>
              <a:gdLst/>
              <a:ahLst/>
              <a:cxnLst/>
              <a:rect r="r" b="b" t="t" l="l"/>
              <a:pathLst>
                <a:path h="988060" w="980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652000" y="0"/>
                  </a:lnTo>
                  <a:cubicBezTo>
                    <a:pt x="9736201" y="0"/>
                    <a:pt x="9804400" y="68199"/>
                    <a:pt x="9804400" y="152400"/>
                  </a:cubicBezTo>
                  <a:lnTo>
                    <a:pt x="9804400" y="835660"/>
                  </a:lnTo>
                  <a:cubicBezTo>
                    <a:pt x="9804400" y="919861"/>
                    <a:pt x="9736201" y="988060"/>
                    <a:pt x="9652000" y="988060"/>
                  </a:cubicBezTo>
                  <a:lnTo>
                    <a:pt x="152400" y="988060"/>
                  </a:lnTo>
                  <a:cubicBezTo>
                    <a:pt x="68199" y="988060"/>
                    <a:pt x="0" y="919861"/>
                    <a:pt x="0" y="835660"/>
                  </a:cubicBezTo>
                  <a:close/>
                </a:path>
              </a:pathLst>
            </a:custGeom>
            <a:solidFill>
              <a:srgbClr val="FBEFE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9804400" cy="10165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A3A3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No hay prueba de que el punto quedó limpio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801100" y="6083198"/>
            <a:ext cx="685800" cy="342900"/>
            <a:chOff x="0" y="0"/>
            <a:chExt cx="914400" cy="457200"/>
          </a:xfrm>
        </p:grpSpPr>
        <p:sp>
          <p:nvSpPr>
            <p:cNvPr name="Freeform 34" id="34" descr="arrow-right"/>
            <p:cNvSpPr/>
            <p:nvPr/>
          </p:nvSpPr>
          <p:spPr>
            <a:xfrm flipH="false" flipV="false" rot="0">
              <a:off x="0" y="0"/>
              <a:ext cx="914400" cy="457200"/>
            </a:xfrm>
            <a:custGeom>
              <a:avLst/>
              <a:gdLst/>
              <a:ahLst/>
              <a:cxnLst/>
              <a:rect r="r" b="b" t="t" l="l"/>
              <a:pathLst>
                <a:path h="457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715500" y="5884221"/>
            <a:ext cx="7353300" cy="741016"/>
            <a:chOff x="0" y="0"/>
            <a:chExt cx="9804400" cy="98802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804400" cy="988060"/>
            </a:xfrm>
            <a:custGeom>
              <a:avLst/>
              <a:gdLst/>
              <a:ahLst/>
              <a:cxnLst/>
              <a:rect r="r" b="b" t="t" l="l"/>
              <a:pathLst>
                <a:path h="988060" w="98044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652000" y="0"/>
                  </a:lnTo>
                  <a:cubicBezTo>
                    <a:pt x="9736201" y="0"/>
                    <a:pt x="9804400" y="68199"/>
                    <a:pt x="9804400" y="152400"/>
                  </a:cubicBezTo>
                  <a:lnTo>
                    <a:pt x="9804400" y="835660"/>
                  </a:lnTo>
                  <a:cubicBezTo>
                    <a:pt x="9804400" y="919861"/>
                    <a:pt x="9736201" y="988060"/>
                    <a:pt x="9652000" y="988060"/>
                  </a:cubicBezTo>
                  <a:lnTo>
                    <a:pt x="152400" y="988060"/>
                  </a:lnTo>
                  <a:cubicBezTo>
                    <a:pt x="68199" y="988060"/>
                    <a:pt x="0" y="919861"/>
                    <a:pt x="0" y="835660"/>
                  </a:cubicBezTo>
                  <a:close/>
                </a:path>
              </a:pathLst>
            </a:custGeom>
            <a:solidFill>
              <a:srgbClr val="E3F0E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9804400" cy="101659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2A3A3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Foto de evidencia obligatoria e historial con hora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90625"/>
            <a:ext cx="220471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2E7D3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3.- </a:t>
            </a:r>
            <a:r>
              <a:rPr lang="en-US" b="true" sz="1800" spc="225">
                <a:solidFill>
                  <a:srgbClr val="2E7D3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OBJETIVOS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6709" y="311619"/>
            <a:ext cx="4773692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799" spc="97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OBJETIVOS ESPECÍFICOS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557708" y="937729"/>
            <a:ext cx="6575368" cy="1594049"/>
            <a:chOff x="0" y="0"/>
            <a:chExt cx="5969623" cy="144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69589" cy="1447165"/>
            </a:xfrm>
            <a:custGeom>
              <a:avLst/>
              <a:gdLst/>
              <a:ahLst/>
              <a:cxnLst/>
              <a:rect r="r" b="b" t="t" l="l"/>
              <a:pathLst>
                <a:path h="1447165" w="5969589">
                  <a:moveTo>
                    <a:pt x="49087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47165"/>
                    <a:pt x="0" y="1447165"/>
                    <a:pt x="0" y="1447165"/>
                  </a:cubicBezTo>
                  <a:cubicBezTo>
                    <a:pt x="4908796" y="1447165"/>
                    <a:pt x="4908796" y="1447165"/>
                    <a:pt x="4908796" y="1447165"/>
                  </a:cubicBezTo>
                  <a:cubicBezTo>
                    <a:pt x="5493080" y="1447165"/>
                    <a:pt x="5969589" y="1122172"/>
                    <a:pt x="5969589" y="723519"/>
                  </a:cubicBezTo>
                  <a:cubicBezTo>
                    <a:pt x="5969589" y="324866"/>
                    <a:pt x="5493079" y="0"/>
                    <a:pt x="4908796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03581" y="983623"/>
            <a:ext cx="1514682" cy="1513621"/>
            <a:chOff x="0" y="0"/>
            <a:chExt cx="2056320" cy="2054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6384" cy="2054860"/>
            </a:xfrm>
            <a:custGeom>
              <a:avLst/>
              <a:gdLst/>
              <a:ahLst/>
              <a:cxnLst/>
              <a:rect r="r" b="b" t="t" l="l"/>
              <a:pathLst>
                <a:path h="2054860" w="2056384">
                  <a:moveTo>
                    <a:pt x="0" y="1027430"/>
                  </a:moveTo>
                  <a:cubicBezTo>
                    <a:pt x="0" y="459994"/>
                    <a:pt x="460375" y="0"/>
                    <a:pt x="1028192" y="0"/>
                  </a:cubicBezTo>
                  <a:cubicBezTo>
                    <a:pt x="1596009" y="0"/>
                    <a:pt x="2056384" y="459994"/>
                    <a:pt x="2056384" y="1027430"/>
                  </a:cubicBezTo>
                  <a:cubicBezTo>
                    <a:pt x="2056384" y="1594866"/>
                    <a:pt x="1596009" y="2054860"/>
                    <a:pt x="1028192" y="2054860"/>
                  </a:cubicBezTo>
                  <a:cubicBezTo>
                    <a:pt x="460375" y="2054860"/>
                    <a:pt x="0" y="1594866"/>
                    <a:pt x="0" y="1027430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668945" y="1316581"/>
            <a:ext cx="983954" cy="99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7499" spc="262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652899" y="2750853"/>
            <a:ext cx="6575368" cy="1594049"/>
            <a:chOff x="0" y="0"/>
            <a:chExt cx="5969623" cy="144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69589" cy="1447165"/>
            </a:xfrm>
            <a:custGeom>
              <a:avLst/>
              <a:gdLst/>
              <a:ahLst/>
              <a:cxnLst/>
              <a:rect r="r" b="b" t="t" l="l"/>
              <a:pathLst>
                <a:path h="1447165" w="5969589">
                  <a:moveTo>
                    <a:pt x="49087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47165"/>
                    <a:pt x="0" y="1447165"/>
                    <a:pt x="0" y="1447165"/>
                  </a:cubicBezTo>
                  <a:cubicBezTo>
                    <a:pt x="4908796" y="1447165"/>
                    <a:pt x="4908796" y="1447165"/>
                    <a:pt x="4908796" y="1447165"/>
                  </a:cubicBezTo>
                  <a:cubicBezTo>
                    <a:pt x="5493080" y="1447165"/>
                    <a:pt x="5969589" y="1122172"/>
                    <a:pt x="5969589" y="723519"/>
                  </a:cubicBezTo>
                  <a:cubicBezTo>
                    <a:pt x="5969589" y="324866"/>
                    <a:pt x="5493079" y="0"/>
                    <a:pt x="4908796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403581" y="2791067"/>
            <a:ext cx="1514682" cy="1513621"/>
            <a:chOff x="0" y="0"/>
            <a:chExt cx="2056320" cy="2054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6384" cy="2054860"/>
            </a:xfrm>
            <a:custGeom>
              <a:avLst/>
              <a:gdLst/>
              <a:ahLst/>
              <a:cxnLst/>
              <a:rect r="r" b="b" t="t" l="l"/>
              <a:pathLst>
                <a:path h="2054860" w="2056384">
                  <a:moveTo>
                    <a:pt x="0" y="1027430"/>
                  </a:moveTo>
                  <a:cubicBezTo>
                    <a:pt x="0" y="459994"/>
                    <a:pt x="460375" y="0"/>
                    <a:pt x="1028192" y="0"/>
                  </a:cubicBezTo>
                  <a:cubicBezTo>
                    <a:pt x="1596009" y="0"/>
                    <a:pt x="2056384" y="459994"/>
                    <a:pt x="2056384" y="1027430"/>
                  </a:cubicBezTo>
                  <a:cubicBezTo>
                    <a:pt x="2056384" y="1594866"/>
                    <a:pt x="1596009" y="2054860"/>
                    <a:pt x="1028192" y="2054860"/>
                  </a:cubicBezTo>
                  <a:cubicBezTo>
                    <a:pt x="460375" y="2054860"/>
                    <a:pt x="0" y="1594866"/>
                    <a:pt x="0" y="1027430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652899" y="4563977"/>
            <a:ext cx="6575368" cy="1594049"/>
            <a:chOff x="0" y="0"/>
            <a:chExt cx="5969623" cy="144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69589" cy="1447165"/>
            </a:xfrm>
            <a:custGeom>
              <a:avLst/>
              <a:gdLst/>
              <a:ahLst/>
              <a:cxnLst/>
              <a:rect r="r" b="b" t="t" l="l"/>
              <a:pathLst>
                <a:path h="1447165" w="5969589">
                  <a:moveTo>
                    <a:pt x="49087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47165"/>
                    <a:pt x="0" y="1447165"/>
                    <a:pt x="0" y="1447165"/>
                  </a:cubicBezTo>
                  <a:cubicBezTo>
                    <a:pt x="4908796" y="1447165"/>
                    <a:pt x="4908796" y="1447165"/>
                    <a:pt x="4908796" y="1447165"/>
                  </a:cubicBezTo>
                  <a:cubicBezTo>
                    <a:pt x="5493080" y="1447165"/>
                    <a:pt x="5969589" y="1122172"/>
                    <a:pt x="5969589" y="723519"/>
                  </a:cubicBezTo>
                  <a:cubicBezTo>
                    <a:pt x="5969589" y="324866"/>
                    <a:pt x="5493079" y="0"/>
                    <a:pt x="4908796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81744" y="4563977"/>
            <a:ext cx="1514682" cy="1513621"/>
            <a:chOff x="0" y="0"/>
            <a:chExt cx="2056320" cy="2054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6384" cy="2054860"/>
            </a:xfrm>
            <a:custGeom>
              <a:avLst/>
              <a:gdLst/>
              <a:ahLst/>
              <a:cxnLst/>
              <a:rect r="r" b="b" t="t" l="l"/>
              <a:pathLst>
                <a:path h="2054860" w="2056384">
                  <a:moveTo>
                    <a:pt x="0" y="1027430"/>
                  </a:moveTo>
                  <a:cubicBezTo>
                    <a:pt x="0" y="459994"/>
                    <a:pt x="460375" y="0"/>
                    <a:pt x="1028192" y="0"/>
                  </a:cubicBezTo>
                  <a:cubicBezTo>
                    <a:pt x="1596009" y="0"/>
                    <a:pt x="2056384" y="459994"/>
                    <a:pt x="2056384" y="1027430"/>
                  </a:cubicBezTo>
                  <a:cubicBezTo>
                    <a:pt x="2056384" y="1594866"/>
                    <a:pt x="1596009" y="2054860"/>
                    <a:pt x="1028192" y="2054860"/>
                  </a:cubicBezTo>
                  <a:cubicBezTo>
                    <a:pt x="460375" y="2054860"/>
                    <a:pt x="0" y="1594866"/>
                    <a:pt x="0" y="1027430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631062" y="6377101"/>
            <a:ext cx="6575368" cy="1594049"/>
            <a:chOff x="0" y="0"/>
            <a:chExt cx="5969623" cy="144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69589" cy="1447165"/>
            </a:xfrm>
            <a:custGeom>
              <a:avLst/>
              <a:gdLst/>
              <a:ahLst/>
              <a:cxnLst/>
              <a:rect r="r" b="b" t="t" l="l"/>
              <a:pathLst>
                <a:path h="1447165" w="5969589">
                  <a:moveTo>
                    <a:pt x="49087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47165"/>
                    <a:pt x="0" y="1447165"/>
                    <a:pt x="0" y="1447165"/>
                  </a:cubicBezTo>
                  <a:cubicBezTo>
                    <a:pt x="4908796" y="1447165"/>
                    <a:pt x="4908796" y="1447165"/>
                    <a:pt x="4908796" y="1447165"/>
                  </a:cubicBezTo>
                  <a:cubicBezTo>
                    <a:pt x="5493080" y="1447165"/>
                    <a:pt x="5969589" y="1122172"/>
                    <a:pt x="5969589" y="723519"/>
                  </a:cubicBezTo>
                  <a:cubicBezTo>
                    <a:pt x="5969589" y="324866"/>
                    <a:pt x="5493079" y="0"/>
                    <a:pt x="4908796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81744" y="6417315"/>
            <a:ext cx="1514682" cy="1513621"/>
            <a:chOff x="0" y="0"/>
            <a:chExt cx="2056320" cy="2054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56384" cy="2054860"/>
            </a:xfrm>
            <a:custGeom>
              <a:avLst/>
              <a:gdLst/>
              <a:ahLst/>
              <a:cxnLst/>
              <a:rect r="r" b="b" t="t" l="l"/>
              <a:pathLst>
                <a:path h="2054860" w="2056384">
                  <a:moveTo>
                    <a:pt x="0" y="1027430"/>
                  </a:moveTo>
                  <a:cubicBezTo>
                    <a:pt x="0" y="459994"/>
                    <a:pt x="460375" y="0"/>
                    <a:pt x="1028192" y="0"/>
                  </a:cubicBezTo>
                  <a:cubicBezTo>
                    <a:pt x="1596009" y="0"/>
                    <a:pt x="2056384" y="459994"/>
                    <a:pt x="2056384" y="1027430"/>
                  </a:cubicBezTo>
                  <a:cubicBezTo>
                    <a:pt x="2056384" y="1594866"/>
                    <a:pt x="1596009" y="2054860"/>
                    <a:pt x="1028192" y="2054860"/>
                  </a:cubicBezTo>
                  <a:cubicBezTo>
                    <a:pt x="460375" y="2054860"/>
                    <a:pt x="0" y="1594866"/>
                    <a:pt x="0" y="1027430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631062" y="8192339"/>
            <a:ext cx="6575368" cy="1594049"/>
            <a:chOff x="0" y="0"/>
            <a:chExt cx="5969623" cy="144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69589" cy="1447165"/>
            </a:xfrm>
            <a:custGeom>
              <a:avLst/>
              <a:gdLst/>
              <a:ahLst/>
              <a:cxnLst/>
              <a:rect r="r" b="b" t="t" l="l"/>
              <a:pathLst>
                <a:path h="1447165" w="5969589">
                  <a:moveTo>
                    <a:pt x="49087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447165"/>
                    <a:pt x="0" y="1447165"/>
                    <a:pt x="0" y="1447165"/>
                  </a:cubicBezTo>
                  <a:cubicBezTo>
                    <a:pt x="4908796" y="1447165"/>
                    <a:pt x="4908796" y="1447165"/>
                    <a:pt x="4908796" y="1447165"/>
                  </a:cubicBezTo>
                  <a:cubicBezTo>
                    <a:pt x="5493080" y="1447165"/>
                    <a:pt x="5969589" y="1122172"/>
                    <a:pt x="5969589" y="723519"/>
                  </a:cubicBezTo>
                  <a:cubicBezTo>
                    <a:pt x="5969589" y="324866"/>
                    <a:pt x="5493079" y="0"/>
                    <a:pt x="4908796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15651" y="8190225"/>
            <a:ext cx="1514682" cy="1513621"/>
            <a:chOff x="0" y="0"/>
            <a:chExt cx="2056320" cy="2054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56384" cy="2054860"/>
            </a:xfrm>
            <a:custGeom>
              <a:avLst/>
              <a:gdLst/>
              <a:ahLst/>
              <a:cxnLst/>
              <a:rect r="r" b="b" t="t" l="l"/>
              <a:pathLst>
                <a:path h="2054860" w="2056384">
                  <a:moveTo>
                    <a:pt x="0" y="1027430"/>
                  </a:moveTo>
                  <a:cubicBezTo>
                    <a:pt x="0" y="459994"/>
                    <a:pt x="460375" y="0"/>
                    <a:pt x="1028192" y="0"/>
                  </a:cubicBezTo>
                  <a:cubicBezTo>
                    <a:pt x="1596009" y="0"/>
                    <a:pt x="2056384" y="459994"/>
                    <a:pt x="2056384" y="1027430"/>
                  </a:cubicBezTo>
                  <a:cubicBezTo>
                    <a:pt x="2056384" y="1594866"/>
                    <a:pt x="1596009" y="2054860"/>
                    <a:pt x="1028192" y="2054860"/>
                  </a:cubicBezTo>
                  <a:cubicBezTo>
                    <a:pt x="460375" y="2054860"/>
                    <a:pt x="0" y="1594866"/>
                    <a:pt x="0" y="1027430"/>
                  </a:cubicBezTo>
                  <a:close/>
                </a:path>
              </a:pathLst>
            </a:custGeom>
            <a:solidFill>
              <a:srgbClr val="1C5739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68945" y="3074511"/>
            <a:ext cx="983954" cy="99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7499" spc="262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47108" y="4896934"/>
            <a:ext cx="983954" cy="99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7499" spc="262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47108" y="6693540"/>
            <a:ext cx="983954" cy="99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7499" spc="262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81015" y="8523183"/>
            <a:ext cx="983954" cy="99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7499" spc="262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37576" y="1247472"/>
            <a:ext cx="5938200" cy="95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2"/>
              </a:lnSpc>
            </a:pPr>
            <a:r>
              <a:rPr lang="en-US" b="true" sz="1871" spc="18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Analizar cómo se reportan y atienden hoy los puntos de basura para definir los requerimientos del sistema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57250" y="3005402"/>
            <a:ext cx="5766666" cy="95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2"/>
              </a:lnSpc>
            </a:pPr>
            <a:r>
              <a:rPr lang="en-US" b="true" sz="1871" spc="18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Implementar el reporte y la atención de incidencias con interfaces para el ciudadano y el administrador.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23343" y="4665900"/>
            <a:ext cx="5766666" cy="95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2"/>
              </a:lnSpc>
            </a:pPr>
            <a:r>
              <a:rPr lang="en-US" b="true" sz="1871" spc="18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Diseñar una arquitectura modular por capas que facilite el mantenimiento y la escalabilidad del backend.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40223" y="6681164"/>
            <a:ext cx="5766666" cy="128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2"/>
              </a:lnSpc>
            </a:pPr>
            <a:r>
              <a:rPr lang="en-US" b="true" sz="1871" spc="18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Desarrollar endpoints REST seguros con JWT, validaciones y respuestas HTTPS adecuadas.</a:t>
            </a:r>
          </a:p>
          <a:p>
            <a:pPr algn="ctr">
              <a:lnSpc>
                <a:spcPts val="2582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1057250" y="8292149"/>
            <a:ext cx="5766666" cy="95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2"/>
              </a:lnSpc>
            </a:pPr>
            <a:r>
              <a:rPr lang="en-US" b="true" sz="1871" spc="183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Integrar el frontend con el backend y desplegarlos en la nube para facilitar su acceso.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13542" y="3229709"/>
            <a:ext cx="3140266" cy="130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b="true" sz="4584" spc="160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OBJETIVO</a:t>
            </a:r>
          </a:p>
          <a:p>
            <a:pPr algn="ctr">
              <a:lnSpc>
                <a:spcPts val="5043"/>
              </a:lnSpc>
            </a:pPr>
            <a:r>
              <a:rPr lang="en-US" b="true" sz="4584" spc="160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GENERAL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7986" y="4372486"/>
            <a:ext cx="6453468" cy="430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</a:p>
          <a:p>
            <a:pPr algn="ctr">
              <a:lnSpc>
                <a:spcPts val="3406"/>
              </a:lnSpc>
            </a:pPr>
            <a:r>
              <a:rPr lang="en-US" b="true" sz="2468" spc="241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Desarrollar un sistema web de gestión de residuos sólidos, que centralice el reporte y la atención de incidencias, integrando la participación ciudadana, la educación ambiental y la gestión municipal para mejorar la toma de decisiones.</a:t>
            </a:r>
          </a:p>
          <a:p>
            <a:pPr algn="ctr">
              <a:lnSpc>
                <a:spcPts val="340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44340" y="7314569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94016" y="6029053"/>
            <a:ext cx="2085109" cy="208510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3290247" y="-5184309"/>
            <a:ext cx="8637895" cy="863789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573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158853" y="3453586"/>
            <a:ext cx="3620161" cy="1408359"/>
          </a:xfrm>
          <a:custGeom>
            <a:avLst/>
            <a:gdLst/>
            <a:ahLst/>
            <a:cxnLst/>
            <a:rect r="r" b="b" t="t" l="l"/>
            <a:pathLst>
              <a:path h="1408359" w="3620161">
                <a:moveTo>
                  <a:pt x="0" y="0"/>
                </a:moveTo>
                <a:lnTo>
                  <a:pt x="3620162" y="0"/>
                </a:lnTo>
                <a:lnTo>
                  <a:pt x="3620162" y="1408358"/>
                </a:lnTo>
                <a:lnTo>
                  <a:pt x="0" y="1408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94" t="-30309" r="-7389" b="-3131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6314" y="3823512"/>
            <a:ext cx="4067908" cy="1038432"/>
          </a:xfrm>
          <a:custGeom>
            <a:avLst/>
            <a:gdLst/>
            <a:ahLst/>
            <a:cxnLst/>
            <a:rect r="r" b="b" t="t" l="l"/>
            <a:pathLst>
              <a:path h="1038432" w="4067908">
                <a:moveTo>
                  <a:pt x="0" y="0"/>
                </a:moveTo>
                <a:lnTo>
                  <a:pt x="4067908" y="0"/>
                </a:lnTo>
                <a:lnTo>
                  <a:pt x="4067908" y="1038432"/>
                </a:lnTo>
                <a:lnTo>
                  <a:pt x="0" y="1038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200883" y="5921761"/>
            <a:ext cx="2571150" cy="2571150"/>
          </a:xfrm>
          <a:custGeom>
            <a:avLst/>
            <a:gdLst/>
            <a:ahLst/>
            <a:cxnLst/>
            <a:rect r="r" b="b" t="t" l="l"/>
            <a:pathLst>
              <a:path h="2571150" w="2571150">
                <a:moveTo>
                  <a:pt x="0" y="0"/>
                </a:moveTo>
                <a:lnTo>
                  <a:pt x="2571150" y="0"/>
                </a:lnTo>
                <a:lnTo>
                  <a:pt x="2571150" y="2571150"/>
                </a:lnTo>
                <a:lnTo>
                  <a:pt x="0" y="2571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6547" y="7068081"/>
            <a:ext cx="4441333" cy="1011681"/>
          </a:xfrm>
          <a:custGeom>
            <a:avLst/>
            <a:gdLst/>
            <a:ahLst/>
            <a:cxnLst/>
            <a:rect r="r" b="b" t="t" l="l"/>
            <a:pathLst>
              <a:path h="1011681" w="4441333">
                <a:moveTo>
                  <a:pt x="0" y="0"/>
                </a:moveTo>
                <a:lnTo>
                  <a:pt x="4441332" y="0"/>
                </a:lnTo>
                <a:lnTo>
                  <a:pt x="4441332" y="1011681"/>
                </a:lnTo>
                <a:lnTo>
                  <a:pt x="0" y="10116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217" t="-10838" r="-5327" b="-1690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32522" y="3717523"/>
            <a:ext cx="5107872" cy="880483"/>
          </a:xfrm>
          <a:custGeom>
            <a:avLst/>
            <a:gdLst/>
            <a:ahLst/>
            <a:cxnLst/>
            <a:rect r="r" b="b" t="t" l="l"/>
            <a:pathLst>
              <a:path h="880483" w="5107872">
                <a:moveTo>
                  <a:pt x="0" y="0"/>
                </a:moveTo>
                <a:lnTo>
                  <a:pt x="5107872" y="0"/>
                </a:lnTo>
                <a:lnTo>
                  <a:pt x="5107872" y="880484"/>
                </a:lnTo>
                <a:lnTo>
                  <a:pt x="0" y="880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52" t="-269678" r="-5465" b="-258698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36118" y="6518191"/>
            <a:ext cx="2111461" cy="2111461"/>
          </a:xfrm>
          <a:custGeom>
            <a:avLst/>
            <a:gdLst/>
            <a:ahLst/>
            <a:cxnLst/>
            <a:rect r="r" b="b" t="t" l="l"/>
            <a:pathLst>
              <a:path h="2111461" w="2111461">
                <a:moveTo>
                  <a:pt x="0" y="0"/>
                </a:moveTo>
                <a:lnTo>
                  <a:pt x="2111462" y="0"/>
                </a:lnTo>
                <a:lnTo>
                  <a:pt x="2111462" y="2111461"/>
                </a:lnTo>
                <a:lnTo>
                  <a:pt x="0" y="21114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7011" y="483202"/>
            <a:ext cx="4578323" cy="188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84"/>
              </a:lnSpc>
              <a:spcBef>
                <a:spcPct val="0"/>
              </a:spcBef>
            </a:pPr>
            <a:r>
              <a:rPr lang="en-US" b="true" sz="3684" spc="36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3684" spc="361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TACK TECNOLOGICO A USAR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8878" y="1715623"/>
            <a:ext cx="3635539" cy="128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4"/>
              </a:lnSpc>
              <a:spcBef>
                <a:spcPct val="0"/>
              </a:spcBef>
            </a:pPr>
            <a:r>
              <a:rPr lang="en-US" sz="1858" spc="1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Conjunto de librerías de JavaScript que ayudará al desarrollo FrontEnd de la aplicación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6547" y="4984207"/>
            <a:ext cx="3274058" cy="79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Lógica del 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54820" y="5010970"/>
            <a:ext cx="3274058" cy="3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Interfaz web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00883" y="4929022"/>
            <a:ext cx="3274058" cy="3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Estilos modernos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0164" y="8454811"/>
            <a:ext cx="3274058" cy="120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Descripcion de fotos y obtener recomendaciones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48930" y="9067418"/>
            <a:ext cx="3274058" cy="3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 de datos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00883" y="8661137"/>
            <a:ext cx="3274058" cy="79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Almacenamiento de fotos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0760" y="834708"/>
            <a:ext cx="5003602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4.-Arquitectura del Sistema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0760" y="1815884"/>
            <a:ext cx="16778078" cy="7442416"/>
            <a:chOff x="0" y="0"/>
            <a:chExt cx="22370771" cy="99232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370796" cy="9923272"/>
            </a:xfrm>
            <a:custGeom>
              <a:avLst/>
              <a:gdLst/>
              <a:ahLst/>
              <a:cxnLst/>
              <a:rect r="r" b="b" t="t" l="l"/>
              <a:pathLst>
                <a:path h="9923272" w="22370796">
                  <a:moveTo>
                    <a:pt x="0" y="0"/>
                  </a:moveTo>
                  <a:lnTo>
                    <a:pt x="22370796" y="0"/>
                  </a:lnTo>
                  <a:lnTo>
                    <a:pt x="22370796" y="9923272"/>
                  </a:lnTo>
                  <a:lnTo>
                    <a:pt x="0" y="992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95247" y="1967692"/>
            <a:ext cx="5587776" cy="6745932"/>
          </a:xfrm>
          <a:custGeom>
            <a:avLst/>
            <a:gdLst/>
            <a:ahLst/>
            <a:cxnLst/>
            <a:rect r="r" b="b" t="t" l="l"/>
            <a:pathLst>
              <a:path h="6745932" w="5587776">
                <a:moveTo>
                  <a:pt x="0" y="0"/>
                </a:moveTo>
                <a:lnTo>
                  <a:pt x="5587776" y="0"/>
                </a:lnTo>
                <a:lnTo>
                  <a:pt x="5587776" y="6745932"/>
                </a:lnTo>
                <a:lnTo>
                  <a:pt x="0" y="6745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931" r="-2603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0760" y="629131"/>
            <a:ext cx="4308425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Estructura del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6763" y="1438359"/>
            <a:ext cx="9416901" cy="776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Config/: configuración general y documentación de la API (Swagger).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Security/: inicio de sesión con JWT, control de roles y CORS.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Controllers/: endpoints REST de usuarios, incidencias, cuadrillas, insignias y recomendaciones.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Services/: lógica de negocio: registro, asignación de cuadrillas, puntos y reportes.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Repositories/: acceso a la base de datos con JPA.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Models/: entidades, DTOs y estados de las incidencias.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Integrations/: conexión con Gemini (IA), Cloudinary (fotos) y la API de DNI.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Middleware/: manejo centralizado de errores y respuestas HTTP.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db/migration/: migraciones Flyway que crean y actualizan la base de datos.</a:t>
            </a:r>
          </a:p>
          <a:p>
            <a:pPr algn="l">
              <a:lnSpc>
                <a:spcPts val="323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20192" y="4494541"/>
            <a:ext cx="7146659" cy="1533853"/>
          </a:xfrm>
          <a:custGeom>
            <a:avLst/>
            <a:gdLst/>
            <a:ahLst/>
            <a:cxnLst/>
            <a:rect r="r" b="b" t="t" l="l"/>
            <a:pathLst>
              <a:path h="1533853" w="7146659">
                <a:moveTo>
                  <a:pt x="0" y="0"/>
                </a:moveTo>
                <a:lnTo>
                  <a:pt x="7146659" y="0"/>
                </a:lnTo>
                <a:lnTo>
                  <a:pt x="7146659" y="1533853"/>
                </a:lnTo>
                <a:lnTo>
                  <a:pt x="0" y="1533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695" t="-181512" r="-45146" b="-18999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0760" y="629131"/>
            <a:ext cx="2585740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Base de Datos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8588" y="1688187"/>
            <a:ext cx="9416901" cy="7356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341" spc="229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EcoSolido usa PostgreSQL como sistema gestor de base de datos relacional, alojado en la plataforma Supabase. Estas tecnologías permiten almacenar la información de forma estructurada, relacionar entidades y ejecutar operaciones de consulta, inserción, actualización y eliminación.</a:t>
            </a:r>
          </a:p>
          <a:p>
            <a:pPr algn="l">
              <a:lnSpc>
                <a:spcPts val="3231"/>
              </a:lnSpc>
            </a:pPr>
            <a:r>
              <a:rPr lang="en-US" sz="2341" spc="229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Principales ventajas: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Almacenamiento centralizado de la información en la nube.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Soporte para relaciones entre tablas.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Integridad mediante claves primarias y foráneas.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Manejo de transacciones.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Cambios visibles en tiempo real (Realtime).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Versionado del esquema con migraciones Flyway (V1 a V11).</a:t>
            </a:r>
          </a:p>
          <a:p>
            <a:pPr algn="l" marL="505525" indent="-252762" lvl="1">
              <a:lnSpc>
                <a:spcPts val="3231"/>
              </a:lnSpc>
              <a:buFont typeface="Arial"/>
              <a:buChar char="•"/>
            </a:pPr>
            <a:r>
              <a:rPr lang="en-US" b="true" sz="2341" spc="22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Acceso desde el backend mediante Spring Data JPA (Hibernate)</a:t>
            </a:r>
          </a:p>
          <a:p>
            <a:pPr algn="l">
              <a:lnSpc>
                <a:spcPts val="323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11858" y="275690"/>
            <a:ext cx="13663529" cy="221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3"/>
              </a:lnSpc>
            </a:pPr>
            <a:r>
              <a:rPr lang="en-US" b="true" sz="6309">
                <a:solidFill>
                  <a:srgbClr val="763030"/>
                </a:solidFill>
                <a:latin typeface="Caladea Bold"/>
                <a:ea typeface="Caladea Bold"/>
                <a:cs typeface="Caladea Bold"/>
                <a:sym typeface="Caladea Bold"/>
              </a:rPr>
              <a:t>DIAGRAMA ENTIDAD-RELACIÓN:</a:t>
            </a:r>
          </a:p>
          <a:p>
            <a:pPr algn="ctr">
              <a:lnSpc>
                <a:spcPts val="8833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354425" y="1651006"/>
            <a:ext cx="17579150" cy="8138855"/>
            <a:chOff x="0" y="0"/>
            <a:chExt cx="23438866" cy="108518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38865" cy="10851769"/>
            </a:xfrm>
            <a:custGeom>
              <a:avLst/>
              <a:gdLst/>
              <a:ahLst/>
              <a:cxnLst/>
              <a:rect r="r" b="b" t="t" l="l"/>
              <a:pathLst>
                <a:path h="10851769" w="23438865">
                  <a:moveTo>
                    <a:pt x="0" y="0"/>
                  </a:moveTo>
                  <a:lnTo>
                    <a:pt x="23438865" y="0"/>
                  </a:lnTo>
                  <a:lnTo>
                    <a:pt x="23438865" y="10851769"/>
                  </a:lnTo>
                  <a:lnTo>
                    <a:pt x="0" y="1085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25639" y="-2015068"/>
            <a:ext cx="6880458" cy="68804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A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76303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-793144" y="9258300"/>
            <a:ext cx="1586288" cy="15862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4D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793144" y="-83739"/>
            <a:ext cx="13258038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763030"/>
                </a:solidFill>
                <a:latin typeface="Caladea Bold"/>
                <a:ea typeface="Caladea Bold"/>
                <a:cs typeface="Caladea Bold"/>
                <a:sym typeface="Caladea Bold"/>
              </a:rPr>
              <a:t>MODELO LÓGICO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58637" y="3612656"/>
            <a:ext cx="2460013" cy="92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  <a:spcBef>
                <a:spcPct val="0"/>
              </a:spcBef>
            </a:pPr>
            <a:r>
              <a:rPr lang="en-US" sz="26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Recursos limitados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04069" y="1221186"/>
            <a:ext cx="15279862" cy="7939878"/>
            <a:chOff x="0" y="0"/>
            <a:chExt cx="20373150" cy="10586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3087" cy="10586466"/>
            </a:xfrm>
            <a:custGeom>
              <a:avLst/>
              <a:gdLst/>
              <a:ahLst/>
              <a:cxnLst/>
              <a:rect r="r" b="b" t="t" l="l"/>
              <a:pathLst>
                <a:path h="10586466" w="20373087">
                  <a:moveTo>
                    <a:pt x="0" y="0"/>
                  </a:moveTo>
                  <a:lnTo>
                    <a:pt x="20373087" y="0"/>
                  </a:lnTo>
                  <a:lnTo>
                    <a:pt x="20373087" y="10586466"/>
                  </a:lnTo>
                  <a:lnTo>
                    <a:pt x="0" y="10586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13532" y="-2411529"/>
            <a:ext cx="6880458" cy="68804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A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76303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-557588" y="7275227"/>
            <a:ext cx="1586288" cy="15862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4D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557588" y="-161925"/>
            <a:ext cx="13258038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763030"/>
                </a:solidFill>
                <a:latin typeface="Caladea Bold"/>
                <a:ea typeface="Caladea Bold"/>
                <a:cs typeface="Caladea Bold"/>
                <a:sym typeface="Caladea Bold"/>
              </a:rPr>
              <a:t>MODELO FÍSICO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58637" y="3612656"/>
            <a:ext cx="2460013" cy="92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9"/>
              </a:lnSpc>
              <a:spcBef>
                <a:spcPct val="0"/>
              </a:spcBef>
            </a:pPr>
            <a:r>
              <a:rPr lang="en-US" sz="26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Recursos limitados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815713" y="1028700"/>
            <a:ext cx="14656575" cy="8008972"/>
            <a:chOff x="0" y="0"/>
            <a:chExt cx="19542100" cy="106786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42125" cy="10678668"/>
            </a:xfrm>
            <a:custGeom>
              <a:avLst/>
              <a:gdLst/>
              <a:ahLst/>
              <a:cxnLst/>
              <a:rect r="r" b="b" t="t" l="l"/>
              <a:pathLst>
                <a:path h="10678668" w="19542125">
                  <a:moveTo>
                    <a:pt x="0" y="0"/>
                  </a:moveTo>
                  <a:lnTo>
                    <a:pt x="19542125" y="0"/>
                  </a:lnTo>
                  <a:lnTo>
                    <a:pt x="19542125" y="10678668"/>
                  </a:lnTo>
                  <a:lnTo>
                    <a:pt x="0" y="10678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3057" y="1697860"/>
            <a:ext cx="14921885" cy="8393560"/>
          </a:xfrm>
          <a:custGeom>
            <a:avLst/>
            <a:gdLst/>
            <a:ahLst/>
            <a:cxnLst/>
            <a:rect r="r" b="b" t="t" l="l"/>
            <a:pathLst>
              <a:path h="8393560" w="14921885">
                <a:moveTo>
                  <a:pt x="0" y="0"/>
                </a:moveTo>
                <a:lnTo>
                  <a:pt x="14921886" y="0"/>
                </a:lnTo>
                <a:lnTo>
                  <a:pt x="14921886" y="8393560"/>
                </a:lnTo>
                <a:lnTo>
                  <a:pt x="0" y="839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4212" y="590868"/>
            <a:ext cx="1632508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2E7D3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6.- </a:t>
            </a:r>
            <a:r>
              <a:rPr lang="en-US" b="true" sz="1800" spc="225">
                <a:solidFill>
                  <a:srgbClr val="2E7D3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ARQUITECTURA DEL BACKEND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4212" y="1030923"/>
            <a:ext cx="6840141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Servidor API REST modular y escalable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60628" y="1028700"/>
            <a:ext cx="8368756" cy="8193047"/>
          </a:xfrm>
          <a:custGeom>
            <a:avLst/>
            <a:gdLst/>
            <a:ahLst/>
            <a:cxnLst/>
            <a:rect r="r" b="b" t="t" l="l"/>
            <a:pathLst>
              <a:path h="8193047" w="8368756">
                <a:moveTo>
                  <a:pt x="0" y="0"/>
                </a:moveTo>
                <a:lnTo>
                  <a:pt x="8368756" y="0"/>
                </a:lnTo>
                <a:lnTo>
                  <a:pt x="8368756" y="8193047"/>
                </a:lnTo>
                <a:lnTo>
                  <a:pt x="0" y="8193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097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2850" y="981830"/>
            <a:ext cx="4152751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DISEÑO DE LA API REST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329" y="1741800"/>
            <a:ext cx="7706242" cy="66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7"/>
              </a:lnSpc>
            </a:pPr>
            <a:r>
              <a:rPr lang="en-US" sz="2244" spc="219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 backend usa Spring Boot para exponer recursos mediante endpoints HTTP, lo que permite que el frontend interactúe con las funcionalidades del sistema.</a:t>
            </a:r>
          </a:p>
          <a:p>
            <a:pPr algn="l">
              <a:lnSpc>
                <a:spcPts val="3097"/>
              </a:lnSpc>
            </a:pPr>
            <a:r>
              <a:rPr lang="en-US" sz="2244" spc="219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Operaciones principales:</a:t>
            </a:r>
          </a:p>
          <a:p>
            <a:pPr algn="l" marL="484575" indent="-242288" lvl="1">
              <a:lnSpc>
                <a:spcPts val="3097"/>
              </a:lnSpc>
              <a:buFont typeface="Arial"/>
              <a:buChar char="•"/>
            </a:pPr>
            <a:r>
              <a:rPr lang="en-US" b="true" sz="2244" spc="21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GET: consultar información </a:t>
            </a:r>
          </a:p>
          <a:p>
            <a:pPr algn="l" marL="484575" indent="-242288" lvl="1">
              <a:lnSpc>
                <a:spcPts val="3097"/>
              </a:lnSpc>
              <a:buFont typeface="Arial"/>
              <a:buChar char="•"/>
            </a:pPr>
            <a:r>
              <a:rPr lang="en-US" b="true" sz="2244" spc="21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POST: registrar nuevos recursos</a:t>
            </a:r>
          </a:p>
          <a:p>
            <a:pPr algn="l" marL="484575" indent="-242288" lvl="1">
              <a:lnSpc>
                <a:spcPts val="3097"/>
              </a:lnSpc>
              <a:buFont typeface="Arial"/>
              <a:buChar char="•"/>
            </a:pPr>
            <a:r>
              <a:rPr lang="en-US" b="true" sz="2244" spc="21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PUT: actualizar registros existentes</a:t>
            </a:r>
          </a:p>
          <a:p>
            <a:pPr algn="l" marL="484575" indent="-242288" lvl="1">
              <a:lnSpc>
                <a:spcPts val="3097"/>
              </a:lnSpc>
              <a:buFont typeface="Arial"/>
              <a:buChar char="•"/>
            </a:pPr>
            <a:r>
              <a:rPr lang="en-US" b="true" sz="2244" spc="21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PATCH: cambiar el estado o asignar una cuadrilla </a:t>
            </a:r>
          </a:p>
          <a:p>
            <a:pPr algn="l" marL="484575" indent="-242288" lvl="1">
              <a:lnSpc>
                <a:spcPts val="3097"/>
              </a:lnSpc>
              <a:buFont typeface="Arial"/>
              <a:buChar char="•"/>
            </a:pPr>
            <a:r>
              <a:rPr lang="en-US" b="true" sz="2244" spc="219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DELETE: eliminar registros</a:t>
            </a:r>
          </a:p>
          <a:p>
            <a:pPr algn="l">
              <a:lnSpc>
                <a:spcPts val="3097"/>
              </a:lnSpc>
            </a:pPr>
            <a:r>
              <a:rPr lang="en-US" sz="2244" spc="219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API usa DTOs con validaciones (Jakarta Validation) para definir los datos de entrada y salida. Devuelve respuestas en JSON que el frontend procesa, y protege las rutas con tokens JWT.</a:t>
            </a:r>
            <a:r>
              <a:rPr lang="en-US" sz="2244" spc="219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  <a:p>
            <a:pPr algn="l">
              <a:lnSpc>
                <a:spcPts val="3097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6555" y="2171389"/>
            <a:ext cx="10711740" cy="5944221"/>
          </a:xfrm>
          <a:custGeom>
            <a:avLst/>
            <a:gdLst/>
            <a:ahLst/>
            <a:cxnLst/>
            <a:rect r="r" b="b" t="t" l="l"/>
            <a:pathLst>
              <a:path h="5944221" w="10711740">
                <a:moveTo>
                  <a:pt x="0" y="0"/>
                </a:moveTo>
                <a:lnTo>
                  <a:pt x="10711740" y="0"/>
                </a:lnTo>
                <a:lnTo>
                  <a:pt x="10711740" y="5944222"/>
                </a:lnTo>
                <a:lnTo>
                  <a:pt x="0" y="5944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07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0151" y="923047"/>
            <a:ext cx="4642693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FUNCIONAMIENTO DE JWT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8061" y="1939091"/>
            <a:ext cx="6897449" cy="701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008" spc="196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JSON Web Token es un mecanismo que permite transmitir información de autenticación mediante un token firmado digitalmente.</a:t>
            </a:r>
          </a:p>
          <a:p>
            <a:pPr algn="l">
              <a:lnSpc>
                <a:spcPts val="2772"/>
              </a:lnSpc>
            </a:pPr>
            <a:r>
              <a:rPr lang="en-US" sz="2008" spc="196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Proceso de autenticación:</a:t>
            </a:r>
          </a:p>
          <a:p>
            <a:pPr algn="l" marL="433717" indent="-216859" lvl="1">
              <a:lnSpc>
                <a:spcPts val="2772"/>
              </a:lnSpc>
              <a:buFont typeface="Arial"/>
              <a:buChar char="•"/>
            </a:pPr>
            <a:r>
              <a:rPr lang="en-US" b="true" sz="2008" spc="196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 usuario ingresa su nombre de usuario y contraseña.</a:t>
            </a:r>
          </a:p>
          <a:p>
            <a:pPr algn="l" marL="433717" indent="-216859" lvl="1">
              <a:lnSpc>
                <a:spcPts val="2772"/>
              </a:lnSpc>
              <a:buFont typeface="Arial"/>
              <a:buChar char="•"/>
            </a:pPr>
            <a:r>
              <a:rPr lang="en-US" b="true" sz="2008" spc="196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Spring Boot verifica las credenciales en la base de datos, comparando la contraseña cifrada con BCrypt.</a:t>
            </a:r>
          </a:p>
          <a:p>
            <a:pPr algn="l" marL="433717" indent="-216859" lvl="1">
              <a:lnSpc>
                <a:spcPts val="2772"/>
              </a:lnSpc>
              <a:buFont typeface="Arial"/>
              <a:buChar char="•"/>
            </a:pPr>
            <a:r>
              <a:rPr lang="en-US" b="true" sz="2008" spc="196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 son correctas, genera un token JWT con el usuario y su rol, válido por 8 horas.</a:t>
            </a:r>
          </a:p>
          <a:p>
            <a:pPr algn="l" marL="433717" indent="-216859" lvl="1">
              <a:lnSpc>
                <a:spcPts val="2772"/>
              </a:lnSpc>
              <a:buFont typeface="Arial"/>
              <a:buChar char="•"/>
            </a:pPr>
            <a:r>
              <a:rPr lang="en-US" b="true" sz="2008" spc="196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 frontend recibe el token y lo guarda en el navegador.</a:t>
            </a:r>
          </a:p>
          <a:p>
            <a:pPr algn="l" marL="433717" indent="-216859" lvl="1">
              <a:lnSpc>
                <a:spcPts val="2772"/>
              </a:lnSpc>
              <a:buFont typeface="Arial"/>
              <a:buChar char="•"/>
            </a:pPr>
            <a:r>
              <a:rPr lang="en-US" b="true" sz="2008" spc="196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 cliente envía el token mediante la cabecera Authorization: Bearer.</a:t>
            </a:r>
          </a:p>
          <a:p>
            <a:pPr algn="l" marL="433717" indent="-216859" lvl="1">
              <a:lnSpc>
                <a:spcPts val="2772"/>
              </a:lnSpc>
              <a:buFont typeface="Arial"/>
              <a:buChar char="•"/>
            </a:pPr>
            <a:r>
              <a:rPr lang="en-US" b="true" sz="2008" spc="196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 backend (JwtFilter) verifica la firma, la expiración, la identidad y el rol del usuario.</a:t>
            </a:r>
          </a:p>
          <a:p>
            <a:pPr algn="l">
              <a:lnSpc>
                <a:spcPts val="277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128399" y="3999334"/>
            <a:ext cx="37214" cy="1281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79503" y="1482306"/>
            <a:ext cx="12728995" cy="8319117"/>
          </a:xfrm>
          <a:custGeom>
            <a:avLst/>
            <a:gdLst/>
            <a:ahLst/>
            <a:cxnLst/>
            <a:rect r="r" b="b" t="t" l="l"/>
            <a:pathLst>
              <a:path h="8319117" w="12728995">
                <a:moveTo>
                  <a:pt x="0" y="0"/>
                </a:moveTo>
                <a:lnTo>
                  <a:pt x="12728994" y="0"/>
                </a:lnTo>
                <a:lnTo>
                  <a:pt x="12728994" y="8319117"/>
                </a:lnTo>
                <a:lnTo>
                  <a:pt x="0" y="8319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1197" y="717306"/>
            <a:ext cx="5493246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GESTI0N DE TAREAS CON JIRA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4089" y="3709598"/>
            <a:ext cx="17299821" cy="2321085"/>
          </a:xfrm>
          <a:custGeom>
            <a:avLst/>
            <a:gdLst/>
            <a:ahLst/>
            <a:cxnLst/>
            <a:rect r="r" b="b" t="t" l="l"/>
            <a:pathLst>
              <a:path h="2321085" w="17299821">
                <a:moveTo>
                  <a:pt x="0" y="0"/>
                </a:moveTo>
                <a:lnTo>
                  <a:pt x="17299822" y="0"/>
                </a:lnTo>
                <a:lnTo>
                  <a:pt x="17299822" y="2321085"/>
                </a:lnTo>
                <a:lnTo>
                  <a:pt x="0" y="2321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4089" y="1047750"/>
            <a:ext cx="7701707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CRONOGRAMA DE ASIGNACIONES CON JIRA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78403" y="2269165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3" y="0"/>
                </a:lnTo>
                <a:lnTo>
                  <a:pt x="5778063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4089" y="1047750"/>
            <a:ext cx="2339727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DESPLIEGUE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218" y="2700922"/>
            <a:ext cx="9088443" cy="470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La arquitectura de despliegue contempla la publicación de los componentes del sistema en la nube para permitir su acceso desde Internet.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Servicios involucrados: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Vercel: alojamiento del frontend en React.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Render: alojamiento del backend en Spring Boot, en un contenedor Docker.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Supabase: alojamiento de la base de datos PostgreSQL.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799">
                <a:solidFill>
                  <a:srgbClr val="133024"/>
                </a:solidFill>
                <a:latin typeface="Rubik Bold"/>
                <a:ea typeface="Rubik Bold"/>
                <a:cs typeface="Rubik Bold"/>
                <a:sym typeface="Rubik Bold"/>
              </a:rPr>
              <a:t>Cloudinary: almacenamiento de las fotos de incidencias y evidencias.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33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90625"/>
            <a:ext cx="1632508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225">
                <a:solidFill>
                  <a:srgbClr val="8BD49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13.-</a:t>
            </a:r>
            <a:r>
              <a:rPr lang="en-US" b="true" sz="1800" spc="225">
                <a:solidFill>
                  <a:srgbClr val="8BD49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672533"/>
            <a:ext cx="6648896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EAF2EC"/>
                </a:solidFill>
                <a:latin typeface="Rubik Bold"/>
                <a:ea typeface="Rubik Bold"/>
                <a:cs typeface="Rubik Bold"/>
                <a:sym typeface="Rubik Bold"/>
              </a:rPr>
              <a:t>Respuesta a los objetivos específicos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241493"/>
            <a:ext cx="7791450" cy="2362352"/>
            <a:chOff x="0" y="0"/>
            <a:chExt cx="10388600" cy="31498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88600" cy="3149803"/>
            </a:xfrm>
            <a:custGeom>
              <a:avLst/>
              <a:gdLst/>
              <a:ahLst/>
              <a:cxnLst/>
              <a:rect r="r" b="b" t="t" l="l"/>
              <a:pathLst>
                <a:path h="3149803" w="10388600">
                  <a:moveTo>
                    <a:pt x="0" y="167990"/>
                  </a:moveTo>
                  <a:cubicBezTo>
                    <a:pt x="0" y="75175"/>
                    <a:pt x="90932" y="0"/>
                    <a:pt x="203200" y="0"/>
                  </a:cubicBezTo>
                  <a:lnTo>
                    <a:pt x="10185400" y="0"/>
                  </a:lnTo>
                  <a:cubicBezTo>
                    <a:pt x="10297668" y="0"/>
                    <a:pt x="10388600" y="75175"/>
                    <a:pt x="10388600" y="167990"/>
                  </a:cubicBezTo>
                  <a:lnTo>
                    <a:pt x="10388600" y="2981814"/>
                  </a:lnTo>
                  <a:cubicBezTo>
                    <a:pt x="10388600" y="3074628"/>
                    <a:pt x="10297668" y="3149803"/>
                    <a:pt x="10185400" y="3149803"/>
                  </a:cubicBezTo>
                  <a:lnTo>
                    <a:pt x="203200" y="3149803"/>
                  </a:lnTo>
                  <a:cubicBezTo>
                    <a:pt x="90932" y="3149803"/>
                    <a:pt x="0" y="3074628"/>
                    <a:pt x="0" y="2981814"/>
                  </a:cubicBezTo>
                  <a:close/>
                </a:path>
              </a:pathLst>
            </a:custGeom>
            <a:solidFill>
              <a:srgbClr val="1B3F2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62100" y="2555818"/>
            <a:ext cx="73188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8BD49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OBJETIVO 1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2100" y="2980576"/>
            <a:ext cx="731882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DCE8DF"/>
                </a:solidFill>
                <a:latin typeface="Nunito Sans"/>
                <a:ea typeface="Nunito Sans"/>
                <a:cs typeface="Nunito Sans"/>
                <a:sym typeface="Nunito Sans"/>
              </a:rPr>
              <a:t>El análisis de cómo se reportan y atienden hoy los puntos de basura permitió definir 9 requerimientos funcionales priorizados para el ciudadano y el administrador.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77350" y="2241493"/>
            <a:ext cx="7791450" cy="2362352"/>
            <a:chOff x="0" y="0"/>
            <a:chExt cx="10388600" cy="31498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8600" cy="3149803"/>
            </a:xfrm>
            <a:custGeom>
              <a:avLst/>
              <a:gdLst/>
              <a:ahLst/>
              <a:cxnLst/>
              <a:rect r="r" b="b" t="t" l="l"/>
              <a:pathLst>
                <a:path h="3149803" w="10388600">
                  <a:moveTo>
                    <a:pt x="0" y="167990"/>
                  </a:moveTo>
                  <a:cubicBezTo>
                    <a:pt x="0" y="75175"/>
                    <a:pt x="90932" y="0"/>
                    <a:pt x="203200" y="0"/>
                  </a:cubicBezTo>
                  <a:lnTo>
                    <a:pt x="10185400" y="0"/>
                  </a:lnTo>
                  <a:cubicBezTo>
                    <a:pt x="10297668" y="0"/>
                    <a:pt x="10388600" y="75175"/>
                    <a:pt x="10388600" y="167990"/>
                  </a:cubicBezTo>
                  <a:lnTo>
                    <a:pt x="10388600" y="2981814"/>
                  </a:lnTo>
                  <a:cubicBezTo>
                    <a:pt x="10388600" y="3074628"/>
                    <a:pt x="10297668" y="3149803"/>
                    <a:pt x="10185400" y="3149803"/>
                  </a:cubicBezTo>
                  <a:lnTo>
                    <a:pt x="203200" y="3149803"/>
                  </a:lnTo>
                  <a:cubicBezTo>
                    <a:pt x="90932" y="3149803"/>
                    <a:pt x="0" y="3074628"/>
                    <a:pt x="0" y="2981814"/>
                  </a:cubicBezTo>
                  <a:close/>
                </a:path>
              </a:pathLst>
            </a:custGeom>
            <a:solidFill>
              <a:srgbClr val="1B3F2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620250" y="2555818"/>
            <a:ext cx="73188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8BD49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OBJETIVO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20250" y="2980576"/>
            <a:ext cx="731882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DCE8DF"/>
                </a:solidFill>
                <a:latin typeface="Nunito Sans"/>
                <a:ea typeface="Nunito Sans"/>
                <a:cs typeface="Nunito Sans"/>
                <a:sym typeface="Nunito Sans"/>
              </a:rPr>
              <a:t>Se implementó el ciclo completo de la incidencia: reporte con foto y mapa, asignación a una cuadrilla de la zona y cierre con foto de evidencia.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219200" y="4765770"/>
            <a:ext cx="7791450" cy="2402855"/>
            <a:chOff x="0" y="0"/>
            <a:chExt cx="10388600" cy="32038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88600" cy="3203857"/>
            </a:xfrm>
            <a:custGeom>
              <a:avLst/>
              <a:gdLst/>
              <a:ahLst/>
              <a:cxnLst/>
              <a:rect r="r" b="b" t="t" l="l"/>
              <a:pathLst>
                <a:path h="3203857" w="10388600">
                  <a:moveTo>
                    <a:pt x="0" y="170861"/>
                  </a:moveTo>
                  <a:cubicBezTo>
                    <a:pt x="0" y="76460"/>
                    <a:pt x="90932" y="0"/>
                    <a:pt x="203200" y="0"/>
                  </a:cubicBezTo>
                  <a:lnTo>
                    <a:pt x="10185400" y="0"/>
                  </a:lnTo>
                  <a:cubicBezTo>
                    <a:pt x="10297668" y="0"/>
                    <a:pt x="10388600" y="76460"/>
                    <a:pt x="10388600" y="170861"/>
                  </a:cubicBezTo>
                  <a:lnTo>
                    <a:pt x="10388600" y="3032989"/>
                  </a:lnTo>
                  <a:cubicBezTo>
                    <a:pt x="10388600" y="3127389"/>
                    <a:pt x="10297668" y="3203857"/>
                    <a:pt x="10185400" y="3203857"/>
                  </a:cubicBezTo>
                  <a:lnTo>
                    <a:pt x="203200" y="3203857"/>
                  </a:lnTo>
                  <a:cubicBezTo>
                    <a:pt x="90932" y="3203857"/>
                    <a:pt x="0" y="3127389"/>
                    <a:pt x="0" y="3032989"/>
                  </a:cubicBezTo>
                  <a:close/>
                </a:path>
              </a:pathLst>
            </a:custGeom>
            <a:solidFill>
              <a:srgbClr val="1B3F2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62100" y="5080095"/>
            <a:ext cx="73188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8BD49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OBJETIVO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2100" y="5504853"/>
            <a:ext cx="731882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DCE8DF"/>
                </a:solidFill>
                <a:latin typeface="Nunito Sans"/>
                <a:ea typeface="Nunito Sans"/>
                <a:cs typeface="Nunito Sans"/>
                <a:sym typeface="Nunito Sans"/>
              </a:rPr>
              <a:t>La arquitectura modular por capas separó controladores, servicios y repositorios, lo que facilita el mantenimiento y el crecimiento del backend.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9277350" y="4765770"/>
            <a:ext cx="7791450" cy="2402855"/>
            <a:chOff x="0" y="0"/>
            <a:chExt cx="10388600" cy="32038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88600" cy="3203857"/>
            </a:xfrm>
            <a:custGeom>
              <a:avLst/>
              <a:gdLst/>
              <a:ahLst/>
              <a:cxnLst/>
              <a:rect r="r" b="b" t="t" l="l"/>
              <a:pathLst>
                <a:path h="3203857" w="10388600">
                  <a:moveTo>
                    <a:pt x="0" y="170861"/>
                  </a:moveTo>
                  <a:cubicBezTo>
                    <a:pt x="0" y="76460"/>
                    <a:pt x="90932" y="0"/>
                    <a:pt x="203200" y="0"/>
                  </a:cubicBezTo>
                  <a:lnTo>
                    <a:pt x="10185400" y="0"/>
                  </a:lnTo>
                  <a:cubicBezTo>
                    <a:pt x="10297668" y="0"/>
                    <a:pt x="10388600" y="76460"/>
                    <a:pt x="10388600" y="170861"/>
                  </a:cubicBezTo>
                  <a:lnTo>
                    <a:pt x="10388600" y="3032989"/>
                  </a:lnTo>
                  <a:cubicBezTo>
                    <a:pt x="10388600" y="3127389"/>
                    <a:pt x="10297668" y="3203857"/>
                    <a:pt x="10185400" y="3203857"/>
                  </a:cubicBezTo>
                  <a:lnTo>
                    <a:pt x="203200" y="3203857"/>
                  </a:lnTo>
                  <a:cubicBezTo>
                    <a:pt x="90932" y="3203857"/>
                    <a:pt x="0" y="3127389"/>
                    <a:pt x="0" y="3032989"/>
                  </a:cubicBezTo>
                  <a:close/>
                </a:path>
              </a:pathLst>
            </a:custGeom>
            <a:solidFill>
              <a:srgbClr val="1B3F2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20250" y="5080095"/>
            <a:ext cx="73188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8BD49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OBJETIVO 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20250" y="5504853"/>
            <a:ext cx="731882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DCE8DF"/>
                </a:solidFill>
                <a:latin typeface="Nunito Sans"/>
                <a:ea typeface="Nunito Sans"/>
                <a:cs typeface="Nunito Sans"/>
                <a:sym typeface="Nunito Sans"/>
              </a:rPr>
              <a:t>Los endpoints REST quedaron protegidos con JWT, validan los datos y responden con los códigos HTTPS adecuados, documentados en Swagger.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5248275" y="7330550"/>
            <a:ext cx="7791450" cy="2362352"/>
            <a:chOff x="0" y="0"/>
            <a:chExt cx="10388600" cy="31498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88600" cy="3149803"/>
            </a:xfrm>
            <a:custGeom>
              <a:avLst/>
              <a:gdLst/>
              <a:ahLst/>
              <a:cxnLst/>
              <a:rect r="r" b="b" t="t" l="l"/>
              <a:pathLst>
                <a:path h="3149803" w="10388600">
                  <a:moveTo>
                    <a:pt x="0" y="167990"/>
                  </a:moveTo>
                  <a:cubicBezTo>
                    <a:pt x="0" y="75175"/>
                    <a:pt x="90932" y="0"/>
                    <a:pt x="203200" y="0"/>
                  </a:cubicBezTo>
                  <a:lnTo>
                    <a:pt x="10185400" y="0"/>
                  </a:lnTo>
                  <a:cubicBezTo>
                    <a:pt x="10297668" y="0"/>
                    <a:pt x="10388600" y="75175"/>
                    <a:pt x="10388600" y="167990"/>
                  </a:cubicBezTo>
                  <a:lnTo>
                    <a:pt x="10388600" y="2981814"/>
                  </a:lnTo>
                  <a:cubicBezTo>
                    <a:pt x="10388600" y="3074628"/>
                    <a:pt x="10297668" y="3149803"/>
                    <a:pt x="10185400" y="3149803"/>
                  </a:cubicBezTo>
                  <a:lnTo>
                    <a:pt x="203200" y="3149803"/>
                  </a:lnTo>
                  <a:cubicBezTo>
                    <a:pt x="90932" y="3149803"/>
                    <a:pt x="0" y="3074628"/>
                    <a:pt x="0" y="2981814"/>
                  </a:cubicBezTo>
                  <a:close/>
                </a:path>
              </a:pathLst>
            </a:custGeom>
            <a:solidFill>
              <a:srgbClr val="1B3F2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591175" y="7644875"/>
            <a:ext cx="731882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8BD49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OBJETIVO 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91175" y="8069633"/>
            <a:ext cx="7318820" cy="369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DCE8DF"/>
                </a:solidFill>
                <a:latin typeface="Nunito Sans"/>
                <a:ea typeface="Nunito Sans"/>
                <a:cs typeface="Nunito Sans"/>
                <a:sym typeface="Nunito Sans"/>
              </a:rPr>
              <a:t>La integración del frontend con el backend y su despliegue en Vercel, Render y Supabase dieron acceso público al sistema en la nube.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DAHYvCZsHZQ</dc:identifier>
  <dcterms:modified xsi:type="dcterms:W3CDTF">2011-08-01T06:04:30Z</dcterms:modified>
  <cp:revision>1</cp:revision>
  <dc:title>EcoSolido — Presentación final.pptx</dc:title>
</cp:coreProperties>
</file>